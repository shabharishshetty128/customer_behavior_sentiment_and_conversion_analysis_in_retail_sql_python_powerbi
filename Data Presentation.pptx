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EC02F-6CED-DF3B-5CF7-1CC601BA4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2630CA-0368-6F32-2707-6D7F5DEBF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B2E53-84EF-9C65-5D5B-048B1250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D746C-BB64-4D5C-8B50-0C2E70EEAB19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27B8A-2855-B453-0C07-BBF5B7E3B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88D65-C0CA-3401-2FB2-E8075424D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BC5A7-1CE0-4055-B2FD-3A0EA8E72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570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EC5E7-82A3-821F-CF97-04B7C3461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AAA1F-EEE6-574E-0176-FF5C5D2B6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66DE5-6098-ED90-71BB-891C87818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D746C-BB64-4D5C-8B50-0C2E70EEAB19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2F1C1-030E-E6BB-201D-E2CD5D459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F9FE2-C33A-1245-70E2-7D3D5FF81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BC5A7-1CE0-4055-B2FD-3A0EA8E72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458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B7253-2F78-24DF-3D3B-3C5649309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60AC2-F367-E9C9-9A40-383195077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C2760-02CC-75D5-833C-7DFEA90B9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D746C-BB64-4D5C-8B50-0C2E70EEAB19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99699-6C36-838A-4AC5-CD9109090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9C901-1A91-B79B-948C-5580298C9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BC5A7-1CE0-4055-B2FD-3A0EA8E72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644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27507-3CE8-201D-E57A-54CE3D9AB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64A22-1A03-3BBB-1307-A697137D1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EE50A3-0564-F847-18AC-F6A7D2B52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B759E-C575-DE31-75C2-0714AFA54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D746C-BB64-4D5C-8B50-0C2E70EEAB19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F957A9-7494-5A44-702D-548FAA11F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CEF23-9153-5DD6-49ED-BFE7B55C1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BC5A7-1CE0-4055-B2FD-3A0EA8E72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196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867CA-7986-4BC7-39B3-723056111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CBFD7-6C0C-7C1A-C001-AFCA72522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408C1D-EC3D-C45B-8920-B65CF3F0D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51DDCA-2D24-5FD2-1F86-96CFAB9FC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C09562-7F6B-F1C2-D836-A532B3C827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DCE47C-2149-4489-16EE-568AF4460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D746C-BB64-4D5C-8B50-0C2E70EEAB19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519668-804A-E7D0-20BF-F775137B3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8600EC-507F-E6C3-BE44-D578BDBB4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BC5A7-1CE0-4055-B2FD-3A0EA8E72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686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1F000-5C7D-81D6-6A67-6D0D5C772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01D02A-BA7A-F948-57E4-2088B7E76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D746C-BB64-4D5C-8B50-0C2E70EEAB19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9CAF36-1AC9-D29D-7E7C-A3E43A360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B52733-2738-35BF-E167-89B4B1D6C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BC5A7-1CE0-4055-B2FD-3A0EA8E72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621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E98D61-242C-9D08-8590-3690FB986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D746C-BB64-4D5C-8B50-0C2E70EEAB19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C17AE8-2687-F516-7743-EA5476EB4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2871C-7666-4B2B-F4DB-CDBB15BAA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BC5A7-1CE0-4055-B2FD-3A0EA8E72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401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A8FED-CC39-60E5-9999-A63DC8095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95221-3CB9-3D93-0CD4-AE45316A5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57BCF6-F1D1-A4D3-2EB4-42E1275F8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404D4-BDE4-F22C-68A1-65C28584B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D746C-BB64-4D5C-8B50-0C2E70EEAB19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740F6-C8A4-F200-00EA-834BEB5E2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36405-0762-084E-3E54-B0726E256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BC5A7-1CE0-4055-B2FD-3A0EA8E72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280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AED66-778A-0853-D049-725F3EDAF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D89341-6661-9701-9ECB-0BD282E4F0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13D4DE-FC4C-C238-5FE8-83C061D64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AAFE3-7808-8DE5-853C-18E1EE934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D746C-BB64-4D5C-8B50-0C2E70EEAB19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D8E7F6-961C-E2DD-79FE-A6C0A8465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46130-63CC-C641-FC94-248D25077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BC5A7-1CE0-4055-B2FD-3A0EA8E72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306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C397B-DEDD-9B5D-FCBC-E850FA171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03009C-35B8-8E6B-123A-2187FCA380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B90D2-CAB6-BF75-7BB4-B871552BD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D746C-BB64-4D5C-8B50-0C2E70EEAB19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53D40-3219-5594-D577-345EE2791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27D8C-78AB-F169-4E9F-33E95C718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BC5A7-1CE0-4055-B2FD-3A0EA8E72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913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CABC9E-2987-C24E-4115-020A2D9D7D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E5D95A-1366-03D6-4E84-8B352E8518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ABA0A-A5FC-DF53-0FFB-C6681982D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D746C-BB64-4D5C-8B50-0C2E70EEAB19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60448-E2AC-2341-6CF2-55A8963C2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818C2-2DFD-BBE5-3BF4-1B482E7AC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BC5A7-1CE0-4055-B2FD-3A0EA8E72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570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7B6255-91B2-687C-3F10-BA11CE22D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D9537-31A2-7429-291D-932690030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390F6-A23D-AEE4-4B22-A87BA67324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5D746C-BB64-4D5C-8B50-0C2E70EEAB19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BAED5-3C83-051D-418A-C44B2BD829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1398C-5531-2C2B-C33A-E799B7972A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BC5A7-1CE0-4055-B2FD-3A0EA8E72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95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BC366-D23C-85A3-31A3-30D5D9F80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72889"/>
            <a:ext cx="9144000" cy="983073"/>
          </a:xfrm>
        </p:spPr>
        <p:txBody>
          <a:bodyPr/>
          <a:lstStyle/>
          <a:p>
            <a:r>
              <a:rPr lang="en-IN" dirty="0"/>
              <a:t>DATA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220409-99FD-4400-287D-B64F8EDE36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431119"/>
          </a:xfrm>
        </p:spPr>
        <p:txBody>
          <a:bodyPr/>
          <a:lstStyle/>
          <a:p>
            <a:r>
              <a:rPr lang="en-US" dirty="0"/>
              <a:t>Customer Behavior, Sentiment, and Conversion Analysis in Retail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2525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4BE0F-3E44-D949-CB0A-80BE8EEDA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70" y="298210"/>
            <a:ext cx="3076074" cy="709696"/>
          </a:xfrm>
        </p:spPr>
        <p:txBody>
          <a:bodyPr>
            <a:normAutofit/>
          </a:bodyPr>
          <a:lstStyle/>
          <a:p>
            <a:r>
              <a:rPr lang="nb-NO" sz="2800" b="1" dirty="0"/>
              <a:t>Overview</a:t>
            </a:r>
            <a:endParaRPr lang="en-IN" sz="28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619ACB-572D-E849-458F-39AE8FE72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360" y="880920"/>
            <a:ext cx="6524349" cy="48421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821DA25-0560-078F-5682-95F71E16D437}"/>
              </a:ext>
            </a:extLst>
          </p:cNvPr>
          <p:cNvSpPr txBox="1"/>
          <p:nvPr/>
        </p:nvSpPr>
        <p:spPr>
          <a:xfrm>
            <a:off x="293670" y="1007906"/>
            <a:ext cx="5126690" cy="4715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/>
              <a:t>1. Reduced Customer Engagement: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Views decline gradually from </a:t>
            </a:r>
            <a:r>
              <a:rPr lang="en-US" altLang="en-US" sz="1400" b="1" dirty="0">
                <a:latin typeface="Arial" panose="020B0604020202020204" pitchFamily="34" charset="0"/>
              </a:rPr>
              <a:t>~21.6M</a:t>
            </a:r>
            <a:r>
              <a:rPr lang="en-US" altLang="en-US" sz="1400" dirty="0">
                <a:latin typeface="Arial" panose="020B0604020202020204" pitchFamily="34" charset="0"/>
              </a:rPr>
              <a:t> to </a:t>
            </a:r>
            <a:r>
              <a:rPr lang="en-US" altLang="en-US" sz="1400" b="1" dirty="0">
                <a:latin typeface="Arial" panose="020B0604020202020204" pitchFamily="34" charset="0"/>
              </a:rPr>
              <a:t>~15.6M</a:t>
            </a:r>
            <a:r>
              <a:rPr lang="en-US" altLang="en-US" sz="1400" dirty="0">
                <a:latin typeface="Arial" panose="020B0604020202020204" pitchFamily="34" charset="0"/>
              </a:rPr>
              <a:t> over a time period.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Clicks drop from </a:t>
            </a:r>
            <a:r>
              <a:rPr lang="en-US" altLang="en-US" sz="1400" b="1" dirty="0">
                <a:latin typeface="Arial" panose="020B0604020202020204" pitchFamily="34" charset="0"/>
              </a:rPr>
              <a:t>~0.75M to ~0.55M</a:t>
            </a:r>
            <a:r>
              <a:rPr lang="en-US" altLang="en-US" sz="1400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Likes decrease from </a:t>
            </a:r>
            <a:r>
              <a:rPr lang="en-US" altLang="en-US" sz="1400" b="1" dirty="0">
                <a:latin typeface="Arial" panose="020B0604020202020204" pitchFamily="34" charset="0"/>
              </a:rPr>
              <a:t>~0.34M to ~0.25M</a:t>
            </a:r>
            <a:r>
              <a:rPr lang="en-US" altLang="en-US" sz="1400" dirty="0">
                <a:latin typeface="Arial" panose="020B0604020202020204" pitchFamily="34" charset="0"/>
              </a:rPr>
              <a:t>.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sz="1600" b="1" dirty="0"/>
              <a:t>2. Decreased Conversion Rate: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Conversion fluctuates between </a:t>
            </a:r>
            <a:r>
              <a:rPr lang="en-US" altLang="en-US" sz="1400" b="1" dirty="0">
                <a:latin typeface="Arial" panose="020B0604020202020204" pitchFamily="34" charset="0"/>
              </a:rPr>
              <a:t>8% and 10%</a:t>
            </a:r>
            <a:r>
              <a:rPr lang="en-US" altLang="en-US" sz="1400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Peaks seen in </a:t>
            </a:r>
            <a:r>
              <a:rPr lang="en-US" altLang="en-US" sz="1400" b="1" dirty="0">
                <a:latin typeface="Arial" panose="020B0604020202020204" pitchFamily="34" charset="0"/>
              </a:rPr>
              <a:t>March, June, and September (~10%)</a:t>
            </a:r>
            <a:r>
              <a:rPr lang="en-US" altLang="en-US" sz="1400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Drops observed in </a:t>
            </a:r>
            <a:r>
              <a:rPr lang="en-US" altLang="en-US" sz="1400" b="1" dirty="0">
                <a:latin typeface="Arial" panose="020B0604020202020204" pitchFamily="34" charset="0"/>
              </a:rPr>
              <a:t>July–August and October–November (~8%)</a:t>
            </a:r>
            <a:r>
              <a:rPr lang="en-US" altLang="en-US" sz="1400" dirty="0">
                <a:latin typeface="Arial" panose="020B0604020202020204" pitchFamily="34" charset="0"/>
              </a:rPr>
              <a:t>.</a:t>
            </a: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3. Customer Rating Trends: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Average rating: </a:t>
            </a:r>
            <a:r>
              <a:rPr lang="en-US" altLang="en-US" sz="1400" b="1" dirty="0">
                <a:latin typeface="Arial" panose="020B0604020202020204" pitchFamily="34" charset="0"/>
              </a:rPr>
              <a:t>2.26</a:t>
            </a:r>
            <a:r>
              <a:rPr lang="en-US" altLang="en-US" sz="1400" dirty="0">
                <a:latin typeface="Arial" panose="020B0604020202020204" pitchFamily="34" charset="0"/>
              </a:rPr>
              <a:t>, which is </a:t>
            </a:r>
            <a:r>
              <a:rPr lang="en-US" altLang="en-US" sz="1400" b="1" dirty="0">
                <a:latin typeface="Arial" panose="020B0604020202020204" pitchFamily="34" charset="0"/>
              </a:rPr>
              <a:t>below acceptable retail benchmark (≥3.5)</a:t>
            </a:r>
            <a:r>
              <a:rPr lang="en-US" altLang="en-US" sz="1400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Monthly ratings fluctuate but stay mostly </a:t>
            </a:r>
            <a:r>
              <a:rPr lang="en-US" altLang="en-US" sz="1400" b="1" dirty="0">
                <a:latin typeface="Arial" panose="020B0604020202020204" pitchFamily="34" charset="0"/>
              </a:rPr>
              <a:t>between 2.0 – 2.5</a:t>
            </a:r>
            <a:r>
              <a:rPr lang="en-US" altLang="en-US" sz="1400" dirty="0"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6B8F13-5B21-AB84-5900-593DF9B57CA3}"/>
              </a:ext>
            </a:extLst>
          </p:cNvPr>
          <p:cNvSpPr txBox="1"/>
          <p:nvPr/>
        </p:nvSpPr>
        <p:spPr>
          <a:xfrm>
            <a:off x="293670" y="5850094"/>
            <a:ext cx="11126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clearly indicates </a:t>
            </a:r>
            <a:r>
              <a:rPr lang="en-US" b="1" dirty="0"/>
              <a:t>strong customer reach and engagement</a:t>
            </a:r>
            <a:r>
              <a:rPr lang="en-US" dirty="0"/>
              <a:t>, but </a:t>
            </a:r>
            <a:r>
              <a:rPr lang="en-US" b="1" dirty="0"/>
              <a:t>moderate conversion and low satisfaction levels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237000-D843-920F-1065-638654AC2467}"/>
              </a:ext>
            </a:extLst>
          </p:cNvPr>
          <p:cNvSpPr/>
          <p:nvPr/>
        </p:nvSpPr>
        <p:spPr>
          <a:xfrm>
            <a:off x="7772400" y="1478280"/>
            <a:ext cx="373380" cy="12649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AC6274-FEC5-B5A2-A42E-BA8305C2EBA2}"/>
              </a:ext>
            </a:extLst>
          </p:cNvPr>
          <p:cNvSpPr/>
          <p:nvPr/>
        </p:nvSpPr>
        <p:spPr>
          <a:xfrm>
            <a:off x="11524950" y="1478280"/>
            <a:ext cx="373380" cy="12649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21CB048-3E4D-C7EC-2003-68CAAACAAF21}"/>
              </a:ext>
            </a:extLst>
          </p:cNvPr>
          <p:cNvSpPr/>
          <p:nvPr/>
        </p:nvSpPr>
        <p:spPr>
          <a:xfrm>
            <a:off x="8519160" y="3558541"/>
            <a:ext cx="1097280" cy="60198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07F859B-46F6-B78D-4513-DE763FF5AA97}"/>
              </a:ext>
            </a:extLst>
          </p:cNvPr>
          <p:cNvSpPr/>
          <p:nvPr/>
        </p:nvSpPr>
        <p:spPr>
          <a:xfrm>
            <a:off x="7640955" y="4579620"/>
            <a:ext cx="184785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767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C865C-6D0B-B7EF-B6C0-546E3654D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359B-5675-FDF4-7C7F-F78C9A6C1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70" y="298210"/>
            <a:ext cx="3076074" cy="353460"/>
          </a:xfrm>
        </p:spPr>
        <p:txBody>
          <a:bodyPr>
            <a:normAutofit fontScale="90000"/>
          </a:bodyPr>
          <a:lstStyle/>
          <a:p>
            <a:r>
              <a:rPr lang="nb-NO" sz="2000" b="1" dirty="0"/>
              <a:t>Customer Engagement:</a:t>
            </a:r>
            <a:endParaRPr lang="en-IN" sz="2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F86C1F-91F9-E117-2D9E-E6F8714F772F}"/>
              </a:ext>
            </a:extLst>
          </p:cNvPr>
          <p:cNvSpPr txBox="1"/>
          <p:nvPr/>
        </p:nvSpPr>
        <p:spPr>
          <a:xfrm>
            <a:off x="293670" y="5880669"/>
            <a:ext cx="11604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business has </a:t>
            </a:r>
            <a:r>
              <a:rPr lang="en-US" sz="1400" b="1" dirty="0"/>
              <a:t>strong digital reach</a:t>
            </a:r>
            <a:r>
              <a:rPr lang="en-US" sz="1400" dirty="0"/>
              <a:t>, but the </a:t>
            </a:r>
            <a:r>
              <a:rPr lang="en-US" sz="1400" b="1" dirty="0"/>
              <a:t>declining engagement trend signals future performance risk</a:t>
            </a:r>
            <a:r>
              <a:rPr lang="en-US" sz="1400" dirty="0"/>
              <a:t>. To sustain growth, the company must shift from: High traffic generation to Sustained engagement and conversion optimization.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8759A9-B9E6-F69C-FB52-991533B44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6125" y="1287567"/>
            <a:ext cx="6662205" cy="42828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DC6CFD-9594-F54B-7308-A37D4A33B1BF}"/>
              </a:ext>
            </a:extLst>
          </p:cNvPr>
          <p:cNvSpPr txBox="1"/>
          <p:nvPr/>
        </p:nvSpPr>
        <p:spPr>
          <a:xfrm>
            <a:off x="293670" y="1065725"/>
            <a:ext cx="4852553" cy="472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400" b="1" dirty="0"/>
              <a:t>Key Observations:</a:t>
            </a:r>
          </a:p>
          <a:p>
            <a:pPr>
              <a:lnSpc>
                <a:spcPct val="150000"/>
              </a:lnSpc>
            </a:pPr>
            <a:r>
              <a:rPr lang="en-IN" sz="1400" b="1" dirty="0"/>
              <a:t>1. Reduced Customer Engagement: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en-US" sz="1200" dirty="0"/>
              <a:t>Engagement peaks in </a:t>
            </a:r>
            <a:r>
              <a:rPr lang="en-US" altLang="en-US" sz="1200" b="1" dirty="0"/>
              <a:t>Q1</a:t>
            </a:r>
            <a:r>
              <a:rPr lang="en-US" altLang="en-US" sz="1200" dirty="0"/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en-US" sz="1200" dirty="0"/>
              <a:t>Continuous decline through Q2–Q4.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2</a:t>
            </a:r>
            <a:r>
              <a:rPr lang="en-US" sz="1400" dirty="0"/>
              <a:t>. </a:t>
            </a:r>
            <a:r>
              <a:rPr lang="en-IN" sz="1400" b="1" dirty="0"/>
              <a:t>Weak Engagement Sustainability: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sz="1200" dirty="0"/>
              <a:t>   Big difference in Views to Click and Like ratio.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sz="1200" dirty="0"/>
              <a:t>   The company is good at attracting customers </a:t>
            </a:r>
            <a:r>
              <a:rPr lang="en-US" sz="1200" b="1" dirty="0"/>
              <a:t>initially</a:t>
            </a:r>
            <a:r>
              <a:rPr lang="en-US" sz="1200" dirty="0"/>
              <a:t> but </a:t>
            </a:r>
            <a:r>
              <a:rPr lang="en-US" sz="1200" b="1" dirty="0"/>
              <a:t>struggles to  maintain continuous engagement momentum</a:t>
            </a:r>
            <a:r>
              <a:rPr lang="en-US" sz="12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3. Product-Level Engagement: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/>
              <a:t>Products like </a:t>
            </a:r>
            <a:r>
              <a:rPr lang="en-US" sz="1200" b="1" dirty="0"/>
              <a:t>Tennis Wristband, Pro Match Football, Cricket Helmet, Racing Swim Suit</a:t>
            </a:r>
            <a:r>
              <a:rPr lang="en-US" sz="1200" dirty="0"/>
              <a:t> show high interactions in January.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/>
              <a:t>Most products experience gradual decline month by month.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/>
              <a:t>No major spikes later in the year → indicates lack of promotional push or innovation.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4. Content Type Performance: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sz="1200" dirty="0"/>
              <a:t>  The business is effectively using a </a:t>
            </a:r>
            <a:r>
              <a:rPr lang="en-US" sz="1200" b="1" dirty="0"/>
              <a:t>multi-channel marketing approach</a:t>
            </a:r>
            <a:r>
              <a:rPr lang="en-US" sz="12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3944EC-1DD7-41D7-7824-414E816F7E47}"/>
              </a:ext>
            </a:extLst>
          </p:cNvPr>
          <p:cNvSpPr txBox="1"/>
          <p:nvPr/>
        </p:nvSpPr>
        <p:spPr>
          <a:xfrm>
            <a:off x="293670" y="651670"/>
            <a:ext cx="11604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Business has </a:t>
            </a:r>
            <a:r>
              <a:rPr lang="en-US" sz="1400" b="1" dirty="0"/>
              <a:t>strong digital visibility</a:t>
            </a:r>
            <a:r>
              <a:rPr lang="en-US" sz="1400" dirty="0"/>
              <a:t> and customer reach. Marketing campaigns are successfully attracting attention across products. However, engagement alone does not guarantee revenue.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2B52B4-D964-CB07-87A9-4F10349286EA}"/>
              </a:ext>
            </a:extLst>
          </p:cNvPr>
          <p:cNvSpPr/>
          <p:nvPr/>
        </p:nvSpPr>
        <p:spPr>
          <a:xfrm>
            <a:off x="5314783" y="3212690"/>
            <a:ext cx="4566636" cy="228354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A237499-F850-D5A1-2490-0B15B20CEFDD}"/>
              </a:ext>
            </a:extLst>
          </p:cNvPr>
          <p:cNvSpPr/>
          <p:nvPr/>
        </p:nvSpPr>
        <p:spPr>
          <a:xfrm>
            <a:off x="5522458" y="1199173"/>
            <a:ext cx="5759730" cy="658353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250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25D52-0161-28DF-B796-29CB5868C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6CF68-676E-2812-F54E-84D120B1D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70" y="298210"/>
            <a:ext cx="3076074" cy="353460"/>
          </a:xfrm>
        </p:spPr>
        <p:txBody>
          <a:bodyPr>
            <a:normAutofit fontScale="90000"/>
          </a:bodyPr>
          <a:lstStyle/>
          <a:p>
            <a:r>
              <a:rPr lang="nb-NO" sz="2000" b="1" dirty="0"/>
              <a:t>Customer Conversion:</a:t>
            </a:r>
            <a:endParaRPr lang="en-IN" sz="2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21F99B-CFB2-6C57-DB75-5A01A2BA7D4F}"/>
              </a:ext>
            </a:extLst>
          </p:cNvPr>
          <p:cNvSpPr txBox="1"/>
          <p:nvPr/>
        </p:nvSpPr>
        <p:spPr>
          <a:xfrm>
            <a:off x="293670" y="5929829"/>
            <a:ext cx="11604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company is facing a </a:t>
            </a:r>
            <a:r>
              <a:rPr lang="en-US" sz="1400" b="1" dirty="0"/>
              <a:t>declining quarterly conversion rate trend</a:t>
            </a:r>
            <a:r>
              <a:rPr lang="en-US" sz="1400" dirty="0"/>
              <a:t>, especially after 2023, indicating inefficiencies in turning visitors into paying customers, leading to significant revenue leakage despite strong customer traffic.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706D23-7961-6ABE-2A9B-ECB6765FFAB1}"/>
              </a:ext>
            </a:extLst>
          </p:cNvPr>
          <p:cNvSpPr txBox="1"/>
          <p:nvPr/>
        </p:nvSpPr>
        <p:spPr>
          <a:xfrm>
            <a:off x="293670" y="1195282"/>
            <a:ext cx="4852553" cy="444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400" b="1" dirty="0"/>
              <a:t>Key Observations:</a:t>
            </a:r>
          </a:p>
          <a:p>
            <a:pPr>
              <a:lnSpc>
                <a:spcPct val="150000"/>
              </a:lnSpc>
            </a:pPr>
            <a:r>
              <a:rPr lang="en-IN" sz="1400" b="1" dirty="0"/>
              <a:t>1. Downward trend in Conversion: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/>
              <a:t>There is a </a:t>
            </a:r>
            <a:r>
              <a:rPr lang="en-US" sz="1200" b="1" dirty="0"/>
              <a:t>downward trend in conversion efficiency from 2023 to 2024</a:t>
            </a:r>
            <a:r>
              <a:rPr lang="en-US" sz="1200" dirty="0"/>
              <a:t>, with only partial recovery in 2025.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2</a:t>
            </a:r>
            <a:r>
              <a:rPr lang="en-US" sz="1400" dirty="0"/>
              <a:t>. </a:t>
            </a:r>
            <a:r>
              <a:rPr lang="en-IN" sz="1400" b="1" dirty="0"/>
              <a:t>Very low Conversion Rate: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en-US" sz="1200" dirty="0"/>
              <a:t>Out of 5036 visitors only 448 are become paying customers.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en-US" sz="1200" dirty="0"/>
              <a:t>Conversion rate is only </a:t>
            </a:r>
            <a:r>
              <a:rPr lang="en-US" altLang="en-US" sz="1200" b="1" dirty="0"/>
              <a:t>9%</a:t>
            </a:r>
            <a:r>
              <a:rPr lang="en-US" altLang="en-US" sz="1200" dirty="0"/>
              <a:t> that means nearly </a:t>
            </a:r>
            <a:r>
              <a:rPr lang="en-US" altLang="en-US" sz="1200" b="1" dirty="0"/>
              <a:t>90% visitors do not complete a purchase.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3. </a:t>
            </a:r>
            <a:r>
              <a:rPr lang="en-IN" sz="1400" b="1" dirty="0"/>
              <a:t>Overdependence on Few Products: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/>
              <a:t>Revenue likely concentrated in 5–6 high performers.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/>
              <a:t>Some products show very high spikes in certain months and very low conversion in others. This indicates unstable demand cycles. If seasonal spikes fail, overall performance drops.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4. Inconsistent Monthly Strategy: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sz="1200" dirty="0"/>
              <a:t>No uniform campaign support throughout the year.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A72092-D4AA-34F2-6F53-7BB5B93FE464}"/>
              </a:ext>
            </a:extLst>
          </p:cNvPr>
          <p:cNvSpPr txBox="1"/>
          <p:nvPr/>
        </p:nvSpPr>
        <p:spPr>
          <a:xfrm>
            <a:off x="293670" y="651670"/>
            <a:ext cx="11604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business is experiencing traffic stability but declining conversion strength. This means marketing is working, but the </a:t>
            </a:r>
            <a:r>
              <a:rPr lang="en-US" sz="1400" b="1" dirty="0"/>
              <a:t>purchase decision stage is weak</a:t>
            </a:r>
            <a:r>
              <a:rPr lang="en-US" sz="1400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DF811D-ED1F-434C-FCE9-A73FFA2E0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836" y="1263284"/>
            <a:ext cx="6813494" cy="2076134"/>
          </a:xfrm>
          <a:prstGeom prst="rect">
            <a:avLst/>
          </a:prstGeom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CC3D82C7-FB64-27D0-9687-C9B394F3F2A2}"/>
              </a:ext>
            </a:extLst>
          </p:cNvPr>
          <p:cNvSpPr/>
          <p:nvPr/>
        </p:nvSpPr>
        <p:spPr>
          <a:xfrm>
            <a:off x="5357911" y="1629054"/>
            <a:ext cx="2353180" cy="467775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69BAC82-1919-F27D-AFE6-C7B32537B3A4}"/>
              </a:ext>
            </a:extLst>
          </p:cNvPr>
          <p:cNvSpPr/>
          <p:nvPr/>
        </p:nvSpPr>
        <p:spPr>
          <a:xfrm>
            <a:off x="7132634" y="2359743"/>
            <a:ext cx="2353180" cy="541136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0D87F0D-AF5A-5021-A001-E48426E01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836" y="3339418"/>
            <a:ext cx="6813494" cy="254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640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60C1F-9B37-C130-D12E-A0B16C1BB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B165B-3FC8-FF91-B0E1-E3736C56D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70" y="298210"/>
            <a:ext cx="3076074" cy="353460"/>
          </a:xfrm>
        </p:spPr>
        <p:txBody>
          <a:bodyPr>
            <a:normAutofit fontScale="90000"/>
          </a:bodyPr>
          <a:lstStyle/>
          <a:p>
            <a:r>
              <a:rPr lang="nb-NO" sz="2000" b="1" dirty="0"/>
              <a:t>Customer Feedback:</a:t>
            </a:r>
            <a:endParaRPr lang="en-IN" sz="2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4447FD-695F-8D6B-01E9-79151FDE5DC8}"/>
              </a:ext>
            </a:extLst>
          </p:cNvPr>
          <p:cNvSpPr txBox="1"/>
          <p:nvPr/>
        </p:nvSpPr>
        <p:spPr>
          <a:xfrm>
            <a:off x="197941" y="5638179"/>
            <a:ext cx="88208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Core structural weakness of the business is not lack of traffic — it is </a:t>
            </a:r>
            <a:r>
              <a:rPr lang="en-US" sz="1400" b="1" dirty="0"/>
              <a:t>poor customer satisfaction </a:t>
            </a:r>
            <a:r>
              <a:rPr lang="en-US" sz="1400" dirty="0"/>
              <a:t>and </a:t>
            </a:r>
            <a:r>
              <a:rPr lang="en-US" sz="1400" b="1" dirty="0"/>
              <a:t>negative perception</a:t>
            </a:r>
            <a:r>
              <a:rPr lang="en-US" sz="1400" dirty="0"/>
              <a:t>. Unless product quality and experience improve conversion will remain unstable, Marketing costs will increase and Brand equity will decline.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93C8CE-94C4-E3A4-B520-4A5FFCFFCB61}"/>
              </a:ext>
            </a:extLst>
          </p:cNvPr>
          <p:cNvSpPr txBox="1"/>
          <p:nvPr/>
        </p:nvSpPr>
        <p:spPr>
          <a:xfrm>
            <a:off x="3871857" y="1016847"/>
            <a:ext cx="8120149" cy="3295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400" b="1" dirty="0"/>
              <a:t>Key Observations:</a:t>
            </a:r>
          </a:p>
          <a:p>
            <a:pPr>
              <a:lnSpc>
                <a:spcPct val="150000"/>
              </a:lnSpc>
            </a:pPr>
            <a:r>
              <a:rPr lang="en-IN" sz="1400" b="1" dirty="0"/>
              <a:t>1. Low Customer Satisfaction: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/>
              <a:t>Average rating is </a:t>
            </a:r>
            <a:r>
              <a:rPr lang="en-US" sz="1200" b="1" dirty="0"/>
              <a:t>2.26</a:t>
            </a:r>
            <a:r>
              <a:rPr lang="en-US" sz="1200" dirty="0"/>
              <a:t>. This is significantly </a:t>
            </a:r>
            <a:r>
              <a:rPr lang="en-US" sz="1200" b="1" dirty="0"/>
              <a:t>below the acceptable retail benchmark</a:t>
            </a:r>
            <a:r>
              <a:rPr lang="en-US" sz="1200" dirty="0"/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/>
              <a:t>This shows customers are generally dissatisfied with the products or overall experience.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2</a:t>
            </a:r>
            <a:r>
              <a:rPr lang="en-US" sz="1400" dirty="0"/>
              <a:t>. </a:t>
            </a:r>
            <a:r>
              <a:rPr lang="en-IN" sz="1400" b="1" dirty="0"/>
              <a:t>Negative Customer Perception Trend: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/>
              <a:t>Majority of reviews are 1 and 2 and </a:t>
            </a:r>
            <a:r>
              <a:rPr lang="en-US" sz="1200" b="1" dirty="0"/>
              <a:t>very few 4 and 5 ratings</a:t>
            </a:r>
            <a:r>
              <a:rPr lang="en-US" sz="1200" dirty="0"/>
              <a:t>.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/>
              <a:t>The rating pyramid is inverted — instead of strong satisfaction at the top, dissatisfaction dominates.</a:t>
            </a:r>
            <a:endParaRPr lang="en-US" altLang="en-US" sz="1200" b="1" dirty="0"/>
          </a:p>
          <a:p>
            <a:pPr>
              <a:lnSpc>
                <a:spcPct val="150000"/>
              </a:lnSpc>
            </a:pPr>
            <a:r>
              <a:rPr lang="en-US" sz="1400" b="1" dirty="0"/>
              <a:t>3. </a:t>
            </a:r>
            <a:r>
              <a:rPr lang="en-IN" sz="1400" b="1" dirty="0"/>
              <a:t>Feedbacks are dominated by Negative sentiment: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/>
              <a:t>Negative reviews are more than double positive ones. This strongly explains the declining conversion trend observed earlier.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/>
              <a:t>Peak negative periods seen in Q4 of 2022 &amp; Q2 of 2023. 2024 shows some reduction, but still dominant and 2025 shows mild improvement but not substantial. It indicates </a:t>
            </a:r>
            <a:r>
              <a:rPr lang="en-US" sz="1200" b="1" dirty="0"/>
              <a:t>business has not effectively resolved customer complaints across years</a:t>
            </a:r>
            <a:r>
              <a:rPr lang="en-US" sz="12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563E16-8397-97A1-9101-6CA3EA22E6AD}"/>
              </a:ext>
            </a:extLst>
          </p:cNvPr>
          <p:cNvSpPr txBox="1"/>
          <p:nvPr/>
        </p:nvSpPr>
        <p:spPr>
          <a:xfrm>
            <a:off x="293670" y="651670"/>
            <a:ext cx="11604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company is facing widespread product dissatisfaction, Quality inconsistency across manufacturing locations and Persistent negative customer sentiment over multiple years.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C644B6-CA05-5BA9-08DD-EA894F78C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23" y="2700775"/>
            <a:ext cx="3578187" cy="17031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DE98EB-109D-3750-CE5F-0B26B84B6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670" y="1174890"/>
            <a:ext cx="3578187" cy="148965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F2FB03B-0E82-D192-71E7-054D89D2FE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4504" y="4312236"/>
            <a:ext cx="2781773" cy="20689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45ED193-5506-4FAE-0012-738E6AD45272}"/>
              </a:ext>
            </a:extLst>
          </p:cNvPr>
          <p:cNvSpPr/>
          <p:nvPr/>
        </p:nvSpPr>
        <p:spPr>
          <a:xfrm>
            <a:off x="10333703" y="4984956"/>
            <a:ext cx="226142" cy="102255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7CC840-10A3-BC2A-7ABA-38C5E7425A9E}"/>
              </a:ext>
            </a:extLst>
          </p:cNvPr>
          <p:cNvSpPr txBox="1"/>
          <p:nvPr/>
        </p:nvSpPr>
        <p:spPr>
          <a:xfrm>
            <a:off x="293670" y="4554069"/>
            <a:ext cx="8614356" cy="86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4. Quality inconsistency across manufacturing units:</a:t>
            </a:r>
            <a:endParaRPr lang="en-IN" sz="1600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/>
              <a:t>Hyderabad and Delhi show extremely low ratings and Mumbai, Kolkata, and Bengaluru perform relatively better.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b="1" dirty="0"/>
              <a:t>Quality inconsistency across manufacturing units </a:t>
            </a:r>
            <a:r>
              <a:rPr lang="en-US" sz="1200" dirty="0"/>
              <a:t>is likely affecting product quality and it leads to the customer dissatisfaction.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25455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DAEFD-D238-A1CA-6A2B-16BA14C7B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B155A6D-CEF5-7F58-3716-D091192C4A3B}"/>
              </a:ext>
            </a:extLst>
          </p:cNvPr>
          <p:cNvSpPr txBox="1">
            <a:spLocks/>
          </p:cNvSpPr>
          <p:nvPr/>
        </p:nvSpPr>
        <p:spPr>
          <a:xfrm>
            <a:off x="4557963" y="327707"/>
            <a:ext cx="3076074" cy="468706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/>
              <a:t>Recommendations: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020EC6-23EC-B2C9-D34A-269B6D6E394A}"/>
              </a:ext>
            </a:extLst>
          </p:cNvPr>
          <p:cNvSpPr txBox="1"/>
          <p:nvPr/>
        </p:nvSpPr>
        <p:spPr>
          <a:xfrm>
            <a:off x="1523999" y="959939"/>
            <a:ext cx="4247536" cy="4680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400" b="1" dirty="0"/>
              <a:t>1</a:t>
            </a:r>
            <a:r>
              <a:rPr lang="en-IN" sz="1400" dirty="0"/>
              <a:t>. </a:t>
            </a:r>
            <a:r>
              <a:rPr lang="en-US" sz="1400" b="1" dirty="0"/>
              <a:t>Improve Product Quality: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sz="1200" dirty="0"/>
              <a:t>Conduct strict quality audits across all manufacturing units.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sz="1200" dirty="0"/>
              <a:t>Redesign or upgrade low-rated products.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sz="1200" dirty="0"/>
              <a:t>Standardize quality control procedures.</a:t>
            </a:r>
            <a:endParaRPr lang="en-IN" b="1" dirty="0"/>
          </a:p>
          <a:p>
            <a:pPr>
              <a:lnSpc>
                <a:spcPct val="150000"/>
              </a:lnSpc>
            </a:pPr>
            <a:r>
              <a:rPr lang="en-IN" sz="1400" b="1" dirty="0"/>
              <a:t>2. Enhance Customer Experience: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sz="1200" dirty="0"/>
              <a:t>Simplify checkout and payment process.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IN" sz="1200" dirty="0"/>
              <a:t>Strengthen after-sales support.</a:t>
            </a:r>
          </a:p>
          <a:p>
            <a:pPr>
              <a:lnSpc>
                <a:spcPct val="150000"/>
              </a:lnSpc>
            </a:pPr>
            <a:r>
              <a:rPr lang="en-IN" sz="1400" b="1" dirty="0"/>
              <a:t>3. Increase Conversion Rate: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sz="1200" dirty="0"/>
              <a:t>Add customer reviews and ratings on product pages.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sz="1200" dirty="0"/>
              <a:t>Offer limited-time discounts and combo offers.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sz="1200" dirty="0"/>
              <a:t>Use remarketing campaigns for abandoned carts.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IN" sz="1200" dirty="0"/>
              <a:t>Provide first-time buyer incentives.</a:t>
            </a:r>
          </a:p>
          <a:p>
            <a:pPr>
              <a:lnSpc>
                <a:spcPct val="150000"/>
              </a:lnSpc>
            </a:pPr>
            <a:r>
              <a:rPr lang="en-IN" sz="1400" b="1" dirty="0"/>
              <a:t>4. Optimize Product Portfolio: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sz="1200" dirty="0"/>
              <a:t>Focus marketing budget on high-converting products.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sz="1200" dirty="0"/>
              <a:t>Bundle low-performing products with best sellers.</a:t>
            </a:r>
            <a:endParaRPr lang="en-IN" sz="1200" dirty="0"/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IN" sz="1200" dirty="0"/>
              <a:t>Discontinue consistently weak-performing SKUs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589B3A-D75F-E72B-5A77-7BE836ACD9EC}"/>
              </a:ext>
            </a:extLst>
          </p:cNvPr>
          <p:cNvSpPr txBox="1"/>
          <p:nvPr/>
        </p:nvSpPr>
        <p:spPr>
          <a:xfrm>
            <a:off x="6096000" y="959939"/>
            <a:ext cx="4572001" cy="3526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400" b="1" dirty="0"/>
              <a:t>5</a:t>
            </a:r>
            <a:r>
              <a:rPr lang="en-IN" sz="1400" dirty="0"/>
              <a:t>. </a:t>
            </a:r>
            <a:r>
              <a:rPr lang="en-IN" sz="1400" b="1" dirty="0"/>
              <a:t>Seasonal Marketing Strategy</a:t>
            </a:r>
            <a:r>
              <a:rPr lang="en-US" sz="1400" b="1" dirty="0"/>
              <a:t>: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sz="1200" dirty="0"/>
              <a:t>Plan campaigns around sports seasons and festivals.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sz="1200" dirty="0"/>
              <a:t>Launch targeted promotions during low-performing months.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sz="1200" dirty="0"/>
              <a:t>Introduce limited edition or seasonal collections.</a:t>
            </a:r>
          </a:p>
          <a:p>
            <a:pPr>
              <a:lnSpc>
                <a:spcPct val="150000"/>
              </a:lnSpc>
            </a:pPr>
            <a:r>
              <a:rPr lang="en-IN" sz="1400" b="1" dirty="0"/>
              <a:t>6. Strengthen Customer Retention: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IN" sz="1200" dirty="0"/>
              <a:t>Introduce loyalty programs.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IN" sz="1200" dirty="0"/>
              <a:t>Offer repeat purchase discounts.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IN" sz="1200" dirty="0"/>
              <a:t>Personalize product recommendations.</a:t>
            </a:r>
          </a:p>
          <a:p>
            <a:pPr>
              <a:lnSpc>
                <a:spcPct val="150000"/>
              </a:lnSpc>
            </a:pPr>
            <a:r>
              <a:rPr lang="en-IN" sz="1400" b="1" dirty="0"/>
              <a:t>7. Improve Brand Reputation: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sz="1200" dirty="0"/>
              <a:t>Respond to negative reviews professionally.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sz="1200" dirty="0"/>
              <a:t>Encourage satisfied customers to leave feedback.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IN" sz="1200" dirty="0"/>
              <a:t>Monitor sentiment trends regularly.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55828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Words>946</Words>
  <Application>Microsoft Office PowerPoint</Application>
  <PresentationFormat>Widescreen</PresentationFormat>
  <Paragraphs>90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DATA PRESENTATION</vt:lpstr>
      <vt:lpstr>Overview</vt:lpstr>
      <vt:lpstr>Customer Engagement:</vt:lpstr>
      <vt:lpstr>Customer Conversion:</vt:lpstr>
      <vt:lpstr>Customer Feedback: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SHABHARISH SHETTY</dc:creator>
  <cp:lastModifiedBy>SHABHARISH SHETTY</cp:lastModifiedBy>
  <cp:revision>3</cp:revision>
  <dcterms:created xsi:type="dcterms:W3CDTF">2026-02-12T11:02:46Z</dcterms:created>
  <dcterms:modified xsi:type="dcterms:W3CDTF">2026-02-12T20:16:33Z</dcterms:modified>
</cp:coreProperties>
</file>